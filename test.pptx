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B2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1B2D"/>
                </a:solidFill>
                <a:latin typeface="Arial"/>
              </a:rPr>
              <a:t>Task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Tasks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B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Completed</c:v>
                  </c:pt>
                  <c:pt idx="1">
                    <c:v>In Progress</c:v>
                  </c:pt>
                  <c:pt idx="2">
                    <c:v>To Do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B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B2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1B2D"/>
                </a:solidFill>
                <a:latin typeface="Arial"/>
              </a:rPr>
              <a:t>Hours &amp; Tasks per Member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2563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B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Alice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Tasks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B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Alice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B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B2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1B2D"/>
                </a:solidFill>
                <a:latin typeface="Arial"/>
              </a:rPr>
              <a:t>Tasks per Project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Projects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A8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P1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828800"/>
            <a:ext cx="7772400" cy="7772400"/>
          </a:xfrm>
          <a:prstGeom prst="ellipse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1E3A5F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3200400"/>
            <a:ext cx="5486400" cy="5486400"/>
          </a:xfrm>
          <a:prstGeom prst="ellipse">
            <a:avLst/>
          </a:prstGeom>
          <a:solidFill>
            <a:srgbClr val="2563A8">
              <a:alpha val="40000"/>
            </a:srgbClr>
          </a:solidFill>
          <a:ln w="12700">
            <a:solidFill>
              <a:srgbClr val="2563A8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828800"/>
            <a:ext cx="109728" cy="2560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71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ADCFC"/>
                </a:solidFill>
              </a:rPr>
              <a:t>SPRINT REPORT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8745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Test Sprint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11480" y="3337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</a:rPr>
              <a:t>Weekly Engineering Update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3886200"/>
            <a:ext cx="3657600" cy="0"/>
          </a:xfrm>
          <a:prstGeom prst="line">
            <a:avLst/>
          </a:prstGeom>
          <a:noFill/>
          <a:ln w="12700">
            <a:solidFill>
              <a:srgbClr val="2563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977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2026-04-01  —  2026-04-14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5120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11480" y="5760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Total Tasks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23160" y="5120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23160" y="5760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Completed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34840" y="5120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434840" y="5760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Projects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2000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Executive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2026-04-01 – 2026-04-14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713232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64008" cy="32004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34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A8"/>
                </a:solidFill>
              </a:rPr>
              <a:t>Summary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6675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</a:rPr>
              <a:t>No summary available.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0" y="10972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552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</a:rPr>
              <a:t>VELOCITY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955280" y="15087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—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21040" y="2697480"/>
            <a:ext cx="2560320" cy="2560320"/>
          </a:xfrm>
          <a:prstGeom prst="ellipse">
            <a:avLst/>
          </a:prstGeom>
          <a:solidFill>
            <a:srgbClr val="1E3A5F"/>
          </a:solidFill>
          <a:ln w="38100">
            <a:solidFill>
              <a:srgbClr val="2563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1040" y="30632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</a:rPr>
              <a:t>50%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321040" y="3886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Completion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Rate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2000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Sprint Metrics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64008" cy="132588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887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2563A8"/>
                </a:solidFill>
              </a:rPr>
              <a:t>10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30352" y="19019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Total Tasks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97280"/>
            <a:ext cx="64008" cy="13258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1887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</a:rPr>
              <a:t>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64992" y="19019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Completed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517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097280"/>
            <a:ext cx="64008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1887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199632" y="19019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In Progress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869680" y="1097280"/>
            <a:ext cx="26517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869680" y="1097280"/>
            <a:ext cx="64008" cy="132588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34272" y="11887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2563A8"/>
                </a:solidFill>
              </a:rPr>
              <a:t>50%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034272" y="19019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Completion Rate</a:t>
            </a:r>
            <a:endParaRPr lang="en-US" sz="11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65760" y="2651760"/>
          <a:ext cx="71323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7772400" y="265176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95528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Sprint Duration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955280" y="3063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</a:rPr>
              <a:t>2026-04-01 → 2026-04-14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772400" y="3950208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955280" y="40416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Projects Active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955280" y="436168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</a:rPr>
              <a:t>1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772400" y="5248656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955280" y="53400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Team Members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955280" y="566013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</a:rPr>
              <a:t>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2000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Highlights &amp; Risks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577840" cy="5394960"/>
          </a:xfrm>
          <a:prstGeom prst="roundRect">
            <a:avLst>
              <a:gd name="adj" fmla="val 84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557784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 HIGHLIGHTS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2000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Team Performance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97280"/>
          <a:ext cx="713232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0972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0" y="1097280"/>
            <a:ext cx="64008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0" y="11704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</a:rPr>
              <a:t>Alice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55280" y="1508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 tasks  •  10h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058400" y="1325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Optimal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2000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Projects Overview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548640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858000" y="1188720"/>
            <a:ext cx="48463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0" y="1188720"/>
            <a:ext cx="54864" cy="6858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95160" y="12618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</a:rPr>
              <a:t>P1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995160" y="1572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 tasks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515600" y="1417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63A8"/>
                </a:solidFill>
              </a:rPr>
              <a:t>Active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2000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Active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515600" y="164592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0" y="1645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Active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114300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463040"/>
                <a:gridCol w="1463040"/>
                <a:gridCol w="914400"/>
                <a:gridCol w="37490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ADCFC"/>
                </a:solidFill>
              </a:rPr>
              <a:t>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&amp; Next Steps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743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1280160"/>
            <a:ext cx="3291840" cy="3474720"/>
          </a:xfrm>
          <a:prstGeom prst="roundRect">
            <a:avLst>
              <a:gd name="adj" fmla="val 1389"/>
            </a:avLst>
          </a:prstGeom>
          <a:solidFill>
            <a:srgbClr val="1E3A5F"/>
          </a:solidFill>
          <a:ln w="12700">
            <a:solidFill>
              <a:srgbClr val="2563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03920" y="1280160"/>
            <a:ext cx="3291840" cy="4572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0" y="1280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NEXT SPRINT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82880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To be determined.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Test Sprint  |  2026-04-14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Engineering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Sprint</dc:title>
  <dc:subject>Weekly Engineering Update</dc:subject>
  <dc:creator>Sprint Reporter</dc:creator>
  <cp:lastModifiedBy>Sprint Reporter</cp:lastModifiedBy>
  <cp:revision>1</cp:revision>
  <dcterms:created xsi:type="dcterms:W3CDTF">2026-04-17T09:36:31Z</dcterms:created>
  <dcterms:modified xsi:type="dcterms:W3CDTF">2026-04-17T09:36:31Z</dcterms:modified>
</cp:coreProperties>
</file>